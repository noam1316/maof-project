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457200"/>
            <a:ext cx="54864" cy="59436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7200" b="1">
                <a:solidFill>
                  <a:srgbClr val="FFFFFF"/>
                </a:solidFill>
                <a:latin typeface="Arial"/>
              </a:rPr>
              <a:t>מעוף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600" b="1">
                <a:solidFill>
                  <a:srgbClr val="00A896"/>
                </a:solidFill>
                <a:latin typeface="Arial"/>
              </a:rPr>
              <a:t>Tech-Lead Israel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56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מערכת AI לתמיכת החלטה – גיוס מומחי STEM למערכת החינוך</a:t>
            </a:r>
          </a:p>
          <a:p>
            <a:pPr algn="r" a:rtl="1">
              <a:spcAft>
                <a:spcPts val="560"/>
              </a:spcAft>
            </a:pPr>
            <a:r>
              <a:rPr sz="2000" b="0">
                <a:solidFill>
                  <a:srgbClr val="F9C74F"/>
                </a:solidFill>
                <a:latin typeface="Arial"/>
              </a:rPr>
              <a:t>במודל קריירה מעגלית 2+2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64748B"/>
                </a:solidFill>
                <a:latin typeface="Arial"/>
              </a:rPr>
              <a:t>Confidential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600" b="1">
                <a:solidFill>
                  <a:srgbClr val="1E2761"/>
                </a:solidFill>
                <a:latin typeface="Arial"/>
              </a:rPr>
              <a:t>הבעיה – שני צדדים של אותו מטבע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66576" y="1371600"/>
            <a:ext cx="54864" cy="47548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>
                <a:solidFill>
                  <a:srgbClr val="F96167"/>
                </a:solidFill>
                <a:latin typeface="Arial"/>
              </a:rPr>
              <a:t>משבר מורי 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560"/>
              </a:spcAft>
            </a:pPr>
            <a:r>
              <a:rPr sz="4800" b="1">
                <a:solidFill>
                  <a:srgbClr val="F96167"/>
                </a:solidFill>
                <a:latin typeface="Arial"/>
              </a:rPr>
              <a:t>3,500</a:t>
            </a:r>
          </a:p>
          <a:p>
            <a:pPr algn="r" a:rtl="1">
              <a:spcAft>
                <a:spcPts val="560"/>
              </a:spcAft>
            </a:pPr>
            <a:r>
              <a:rPr sz="1600" b="0">
                <a:solidFill>
                  <a:srgbClr val="1E293B"/>
                </a:solidFill>
                <a:latin typeface="Arial"/>
              </a:rPr>
              <a:t>משרות הוראה פנויות במקצועות STEM</a:t>
            </a:r>
          </a:p>
          <a:p>
            <a:pPr algn="r" a:rtl="1">
              <a:spcAft>
                <a:spcPts val="560"/>
              </a:spcAft>
            </a:pPr>
            <a:r>
              <a:rPr sz="800" b="0">
                <a:solidFill>
                  <a:srgbClr val="1E293B"/>
                </a:solidFill>
                <a:latin typeface="Arial"/>
              </a:rPr>
              <a:t/>
            </a:r>
          </a:p>
          <a:p>
            <a:pPr algn="r" a:rtl="1">
              <a:spcAft>
                <a:spcPts val="560"/>
              </a:spcAft>
            </a:pPr>
            <a:r>
              <a:rPr sz="1600" b="0">
                <a:solidFill>
                  <a:srgbClr val="64748B"/>
                </a:solidFill>
                <a:latin typeface="Arial"/>
              </a:rPr>
              <a:t>22% ירידה בגיוס מורים חדשים</a:t>
            </a:r>
          </a:p>
          <a:p>
            <a:pPr algn="r" a:rtl="1">
              <a:spcAft>
                <a:spcPts val="560"/>
              </a:spcAft>
            </a:pPr>
            <a:r>
              <a:rPr sz="1600" b="0">
                <a:solidFill>
                  <a:srgbClr val="64748B"/>
                </a:solidFill>
                <a:latin typeface="Arial"/>
              </a:rPr>
              <a:t>60% מהמורים עוזבים תוך 5 שנים</a:t>
            </a:r>
          </a:p>
          <a:p>
            <a:pPr algn="r" a:rtl="1">
              <a:spcAft>
                <a:spcPts val="560"/>
              </a:spcAft>
            </a:pPr>
            <a:r>
              <a:rPr sz="1600" b="0">
                <a:solidFill>
                  <a:srgbClr val="64748B"/>
                </a:solidFill>
                <a:latin typeface="Arial"/>
              </a:rPr>
              <a:t>פריפריה מפסידה הכי הרבה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05856" y="1371600"/>
            <a:ext cx="54864" cy="4754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>
                <a:solidFill>
                  <a:srgbClr val="00A896"/>
                </a:solidFill>
                <a:latin typeface="Arial"/>
              </a:rPr>
              <a:t>משבר גיוס ג'וניורים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560"/>
              </a:spcAft>
            </a:pPr>
            <a:r>
              <a:rPr sz="4800" b="1">
                <a:solidFill>
                  <a:srgbClr val="00A896"/>
                </a:solidFill>
                <a:latin typeface="Arial"/>
              </a:rPr>
              <a:t>38-43K</a:t>
            </a:r>
          </a:p>
          <a:p>
            <a:pPr algn="r" a:rtl="1">
              <a:spcAft>
                <a:spcPts val="560"/>
              </a:spcAft>
            </a:pPr>
            <a:r>
              <a:rPr sz="1600" b="0">
                <a:solidFill>
                  <a:srgbClr val="1E293B"/>
                </a:solidFill>
                <a:latin typeface="Arial"/>
              </a:rPr>
              <a:t>עלות גיוס ממוצעת לעובד ג'וניור (בש"ח)</a:t>
            </a:r>
          </a:p>
          <a:p>
            <a:pPr algn="r" a:rtl="1">
              <a:spcAft>
                <a:spcPts val="560"/>
              </a:spcAft>
            </a:pPr>
            <a:r>
              <a:rPr sz="800" b="0">
                <a:solidFill>
                  <a:srgbClr val="1E293B"/>
                </a:solidFill>
                <a:latin typeface="Arial"/>
              </a:rPr>
              <a:t/>
            </a:r>
          </a:p>
          <a:p>
            <a:pPr algn="r" a:rtl="1">
              <a:spcAft>
                <a:spcPts val="560"/>
              </a:spcAft>
            </a:pPr>
            <a:r>
              <a:rPr sz="1600" b="0">
                <a:solidFill>
                  <a:srgbClr val="64748B"/>
                </a:solidFill>
                <a:latin typeface="Arial"/>
              </a:rPr>
              <a:t>3 חודשי אחריות בלבד מחברות השמה</a:t>
            </a:r>
          </a:p>
          <a:p>
            <a:pPr algn="r" a:rtl="1">
              <a:spcAft>
                <a:spcPts val="560"/>
              </a:spcAft>
            </a:pPr>
            <a:r>
              <a:rPr sz="1600" b="0">
                <a:solidFill>
                  <a:srgbClr val="64748B"/>
                </a:solidFill>
                <a:latin typeface="Arial"/>
              </a:rPr>
              <a:t>40% נטישה בשנה הראשונה</a:t>
            </a:r>
          </a:p>
          <a:p>
            <a:pPr algn="r" a:rtl="1">
              <a:spcAft>
                <a:spcPts val="560"/>
              </a:spcAft>
            </a:pPr>
            <a:r>
              <a:rPr sz="1600" b="0">
                <a:solidFill>
                  <a:srgbClr val="64748B"/>
                </a:solidFill>
                <a:latin typeface="Arial"/>
              </a:rPr>
              <a:t>חוסר Soft Skills אצל בוגרי בוטקמפ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>
                <a:solidFill>
                  <a:srgbClr val="FFFFFF"/>
                </a:solidFill>
                <a:latin typeface="Arial"/>
              </a:rPr>
              <a:t>קהל היעד – חיילים משוחררים עם פוטנציאל 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0">
                <a:solidFill>
                  <a:srgbClr val="F9C74F"/>
                </a:solidFill>
                <a:latin typeface="Arial"/>
              </a:rPr>
              <a:t>לא רק לוחמים – כל חייל עם רקע טכנולוגי או מקצועי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011680" cy="34747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01168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194560"/>
            <a:ext cx="731520" cy="731520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0">
                <a:solidFill>
                  <a:srgbClr val="FFFFFF"/>
                </a:solidFill>
                <a:latin typeface="Arial"/>
              </a:rPr>
              <a:t>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Arial"/>
              </a:rPr>
              <a:t>לוחמים משוחררים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A0AEC0"/>
                </a:solidFill>
                <a:latin typeface="Arial"/>
              </a:rPr>
              <a:t>רקע מבצעי, מנהיגות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A0AEC0"/>
                </a:solidFill>
                <a:latin typeface="Arial"/>
              </a:rPr>
              <a:t>עמידה בלחץ, עבודת צוות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1828800"/>
            <a:ext cx="2011680" cy="34747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828800"/>
            <a:ext cx="20116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64992" y="219456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0">
                <a:solidFill>
                  <a:srgbClr val="FFFFFF"/>
                </a:solidFill>
                <a:latin typeface="Arial"/>
              </a:rPr>
              <a:t>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Arial"/>
              </a:rPr>
              <a:t>תקשוב ומערכות מידע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A0AEC0"/>
                </a:solidFill>
                <a:latin typeface="Arial"/>
              </a:rPr>
              <a:t>ניסיון IT, רשתות, סייבר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A0AEC0"/>
                </a:solidFill>
                <a:latin typeface="Arial"/>
              </a:rPr>
              <a:t>ידע טכני מעשי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4" y="1828800"/>
            <a:ext cx="2011680" cy="34747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92624" y="1828800"/>
            <a:ext cx="20116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32704" y="219456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78424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0">
                <a:solidFill>
                  <a:srgbClr val="FFFFFF"/>
                </a:solidFill>
                <a:latin typeface="Arial"/>
              </a:rPr>
              <a:t>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Arial"/>
              </a:rPr>
              <a:t>חיל האוויר – טכני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A0AEC0"/>
                </a:solidFill>
                <a:latin typeface="Arial"/>
              </a:rPr>
              <a:t>אלקטרוניקה, תעופה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A0AEC0"/>
                </a:solidFill>
                <a:latin typeface="Arial"/>
              </a:rPr>
              <a:t>תחזוקה, מערכות מורכבות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1828800"/>
            <a:ext cx="2011680" cy="34747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0336" y="1828800"/>
            <a:ext cx="20116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00416" y="219456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46136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0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7496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Arial"/>
              </a:rPr>
              <a:t>מודיעין ולוט"ם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496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A0AEC0"/>
                </a:solidFill>
                <a:latin typeface="Arial"/>
              </a:rPr>
              <a:t>ניתוח נתונים, AI/ML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7496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A0AEC0"/>
                </a:solidFill>
                <a:latin typeface="Arial"/>
              </a:rPr>
              <a:t>תכנות, מחקר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28048" y="1828800"/>
            <a:ext cx="2011680" cy="34747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28048" y="1828800"/>
            <a:ext cx="20116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68128" y="2194560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3848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0">
                <a:solidFill>
                  <a:srgbClr val="FFFFFF"/>
                </a:solidFill>
                <a:latin typeface="Arial"/>
              </a:rPr>
              <a:t>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5208" y="3200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Arial"/>
              </a:rPr>
              <a:t>ממר"ם ומנה"ט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A0AEC0"/>
                </a:solidFill>
                <a:latin typeface="Arial"/>
              </a:rPr>
              <a:t>פיתוח תוכנה, DevOps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5208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A0AEC0"/>
                </a:solidFill>
                <a:latin typeface="Arial"/>
              </a:rPr>
              <a:t>פרויקטים טכנולוגיים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0">
                <a:solidFill>
                  <a:srgbClr val="F9C74F"/>
                </a:solidFill>
                <a:latin typeface="Arial"/>
              </a:rPr>
              <a:t>פוטנציאל: מעל 15,000 חיילים משוחררים בשנה עם רקע טכנולוגי רלוונטי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600" b="1">
                <a:solidFill>
                  <a:srgbClr val="1E2761"/>
                </a:solidFill>
                <a:latin typeface="Arial"/>
              </a:rPr>
              <a:t>הפתרון – מודל 2+2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1">
                <a:solidFill>
                  <a:srgbClr val="00A896"/>
                </a:solidFill>
                <a:latin typeface="Arial"/>
              </a:rPr>
              <a:t>הכשרה ← 2 שנות הוראת STEM ← 2 שנות הייטק מובטחות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560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56032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10312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1E293B"/>
                </a:solidFill>
                <a:latin typeface="Arial"/>
              </a:rPr>
              <a:t>שלב 0 – הכשרה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>
                <a:solidFill>
                  <a:srgbClr val="00A896"/>
                </a:solidFill>
                <a:latin typeface="Arial"/>
              </a:rPr>
              <a:t>קורס AI &amp;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בנאיה קולג'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מימון קרן לחיילים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משוחררים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2560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828800"/>
            <a:ext cx="2560320" cy="7315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2103120"/>
            <a:ext cx="640080" cy="640080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1E293B"/>
                </a:solidFill>
                <a:latin typeface="Arial"/>
              </a:rPr>
              <a:t>שלב 1 – הוראת 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>
                <a:solidFill>
                  <a:srgbClr val="F9C74F"/>
                </a:solidFill>
                <a:latin typeface="Arial"/>
              </a:rPr>
              <a:t>2 שנות תרומה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סייבר, פייתון, פיזיקה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251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חוזה אישי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572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שכר ~15,000 ש"ח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828800"/>
            <a:ext cx="2560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82880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78040" y="21031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1E293B"/>
                </a:solidFill>
                <a:latin typeface="Arial"/>
              </a:rPr>
              <a:t>שלב 2 – תעשיית הייטק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>
                <a:solidFill>
                  <a:srgbClr val="10B981"/>
                </a:solidFill>
                <a:latin typeface="Arial"/>
              </a:rPr>
              <a:t>2 שנות קריירה מובטחות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Microsoft, Elbit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51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Checkpoint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72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חברות מאמצות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1828800"/>
            <a:ext cx="2560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60" y="1828800"/>
            <a:ext cx="256032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12680" y="210312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1E293B"/>
                </a:solidFill>
                <a:latin typeface="Arial"/>
              </a:rPr>
              <a:t>ערך מוסף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>
                <a:solidFill>
                  <a:srgbClr val="F96167"/>
                </a:solidFill>
                <a:latin typeface="Arial"/>
              </a:rPr>
              <a:t>Seniority Leap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2 שנות הוראה =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251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18 חודשי ניסיון מקצועי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572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Soft Skills + ניהול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>
                <a:solidFill>
                  <a:srgbClr val="00A896"/>
                </a:solidFill>
                <a:latin typeface="Arial"/>
              </a:rPr>
              <a:t>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>
                <a:solidFill>
                  <a:srgbClr val="00A896"/>
                </a:solidFill>
                <a:latin typeface="Arial"/>
              </a:rPr>
              <a:t>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>
                <a:solidFill>
                  <a:srgbClr val="00A896"/>
                </a:solidFill>
                <a:latin typeface="Arial"/>
              </a:rPr>
              <a:t>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>
                <a:solidFill>
                  <a:srgbClr val="FFFFFF"/>
                </a:solidFill>
                <a:latin typeface="Arial"/>
              </a:rPr>
              <a:t>Dual Scoring Engine – מנוע דירוג כפול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0">
                <a:solidFill>
                  <a:srgbClr val="F9C74F"/>
                </a:solidFill>
                <a:latin typeface="Arial"/>
              </a:rPr>
              <a:t>כל מועמד מקבל שני ציונים נפרדים – חובה לפחות 60 בכל אחד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9456" y="1554480"/>
            <a:ext cx="54864" cy="4572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>
                <a:solidFill>
                  <a:srgbClr val="00A896"/>
                </a:solidFill>
                <a:latin typeface="Arial"/>
              </a:rPr>
              <a:t>ציון A: התאמה לבית ספר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F9C74F"/>
                </a:solidFill>
                <a:latin typeface="Arial"/>
              </a:rPr>
              <a:t>School Match – 100 נקודות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0" y="2743200"/>
            <a:ext cx="822960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27432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743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FFFFF"/>
                </a:solidFill>
                <a:latin typeface="Arial"/>
              </a:rPr>
              <a:t>כושר הוראה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A0AEC0"/>
                </a:solidFill>
                <a:latin typeface="Arial"/>
              </a:rPr>
              <a:t>מבחן ELI5 + תקשורת + הדרכה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3337560"/>
            <a:ext cx="822960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3337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FFFFF"/>
                </a:solidFill>
                <a:latin typeface="Arial"/>
              </a:rPr>
              <a:t>התאמה מקצועית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A0AEC0"/>
                </a:solidFill>
                <a:latin typeface="Arial"/>
              </a:rPr>
              <a:t>מומחיות vs צורך ביה"ס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3931920"/>
            <a:ext cx="822960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3931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FFFFF"/>
                </a:solidFill>
                <a:latin typeface="Arial"/>
              </a:rPr>
              <a:t>שימור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A0AEC0"/>
                </a:solidFill>
                <a:latin typeface="Arial"/>
              </a:rPr>
              <a:t>מרחק + משפחה + מחויבות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4526280"/>
            <a:ext cx="822960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45262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526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A0AEC0"/>
                </a:solidFill>
                <a:latin typeface="Arial"/>
              </a:rPr>
              <a:t>פריפריה + טיפוח + דחיפות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05856" y="1554480"/>
            <a:ext cx="54864" cy="4572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>
                <a:solidFill>
                  <a:srgbClr val="F9C74F"/>
                </a:solidFill>
                <a:latin typeface="Arial"/>
              </a:rPr>
              <a:t>ציון B: התאמה לחברה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00A896"/>
                </a:solidFill>
                <a:latin typeface="Arial"/>
              </a:rPr>
              <a:t>Company Match – 100 נקודות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2743200"/>
            <a:ext cx="822960" cy="36576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27432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141B41"/>
                </a:solidFill>
                <a:latin typeface="Arial"/>
              </a:rPr>
              <a:t>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FFFFF"/>
                </a:solidFill>
                <a:latin typeface="Arial"/>
              </a:rPr>
              <a:t>מיומנות טכנית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A0AEC0"/>
                </a:solidFill>
                <a:latin typeface="Arial"/>
              </a:rPr>
              <a:t>Tech-Stack + מבחן + רקע צבאי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337560"/>
            <a:ext cx="822960" cy="36576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337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141B41"/>
                </a:solidFill>
                <a:latin typeface="Arial"/>
              </a:rP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FFFFF"/>
                </a:solidFill>
                <a:latin typeface="Arial"/>
              </a:rPr>
              <a:t>פוטנציאל צמיחה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A0AEC0"/>
                </a:solidFill>
                <a:latin typeface="Arial"/>
              </a:rPr>
              <a:t>קצב למידה + פסיכומטרי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3931920"/>
            <a:ext cx="822960" cy="36576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3931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141B41"/>
                </a:solidFill>
                <a:latin typeface="Arial"/>
              </a:rPr>
              <a:t>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931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FFFFF"/>
                </a:solidFill>
                <a:latin typeface="Arial"/>
              </a:rPr>
              <a:t>כישורים רכים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A0AEC0"/>
                </a:solidFill>
                <a:latin typeface="Arial"/>
              </a:rPr>
              <a:t>ELI5 + מנהיגות + צוות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4526280"/>
            <a:ext cx="822960" cy="36576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5262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141B41"/>
                </a:solidFill>
                <a:latin typeface="Arial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526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FFFFF"/>
                </a:solidFill>
                <a:latin typeface="Arial"/>
              </a:rPr>
              <a:t>התאמה תרבותית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A0AEC0"/>
                </a:solidFill>
                <a:latin typeface="Arial"/>
              </a:rPr>
              <a:t>גודל חברה + סגנון עבודה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120640"/>
            <a:ext cx="576072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0" y="51663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Arial"/>
              </a:rPr>
              <a:t>ציון שיבוץ = שילוב משוקלל A + B  |  סף מינימום: 60 בכל ציון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600" b="1">
                <a:solidFill>
                  <a:srgbClr val="1E2761"/>
                </a:solidFill>
                <a:latin typeface="Arial"/>
              </a:rPr>
              <a:t>שוק תלת-צדדי – ערך לכל השחקנים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64592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347472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192024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1993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0">
                <a:solidFill>
                  <a:srgbClr val="FFFFFF"/>
                </a:solidFill>
                <a:latin typeface="Arial"/>
              </a:rPr>
              <a:t>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800" b="1">
                <a:solidFill>
                  <a:srgbClr val="1E293B"/>
                </a:solidFill>
                <a:latin typeface="Arial"/>
              </a:rPr>
              <a:t>חיילים משוחררים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הכשרה מקצועית במימון מלא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שכר 15K ש"ח בזמן ההוראה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2 שנות הייטק מובטחות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Seniority Leap: +18 חודשי ניסיון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מסלול קריירה ברור ויציב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45920"/>
            <a:ext cx="3474720" cy="7315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6440" y="1920240"/>
            <a:ext cx="640080" cy="640080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993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0">
                <a:solidFill>
                  <a:srgbClr val="FFFFFF"/>
                </a:solidFill>
                <a:latin typeface="Arial"/>
              </a:rPr>
              <a:t>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800" b="1">
                <a:solidFill>
                  <a:srgbClr val="1E293B"/>
                </a:solidFill>
                <a:latin typeface="Arial"/>
              </a:rPr>
              <a:t>בתי ספר / משרד החינוך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מורי STEM איכותיים ומתחלפים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מימון 100% מתקציב גפ"ן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מילוי משרות בפריפריה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עדכון תוכניות לימוד טכנולוגיות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AI Matching – שיבוץ אופטימלי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164592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80" y="1645920"/>
            <a:ext cx="347472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0" y="192024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993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0">
                <a:solidFill>
                  <a:srgbClr val="FFFFFF"/>
                </a:solidFill>
                <a:latin typeface="Arial"/>
              </a:rPr>
              <a:t>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800" b="1">
                <a:solidFill>
                  <a:srgbClr val="1E293B"/>
                </a:solidFill>
                <a:latin typeface="Arial"/>
              </a:rPr>
              <a:t>חברות הייטק מאמצות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עובדים מסוננים עם 2 שנות ניסיון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חיסכון 200K ש"ח vs גיוס רגיל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אחריות 24 חודש (לא 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Soft Skills מוכחים מהשטח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64748B"/>
                </a:solidFill>
                <a:latin typeface="Arial"/>
              </a:rPr>
              <a:t>◂  Pipeline קבוע של טאלנטים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600" b="1">
                <a:solidFill>
                  <a:srgbClr val="FFFFFF"/>
                </a:solidFill>
                <a:latin typeface="Arial"/>
              </a:rPr>
              <a:t>Unit Economics – הכלכלה עובדת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560320" cy="16459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4000" b="1">
                <a:solidFill>
                  <a:srgbClr val="00A896"/>
                </a:solidFill>
                <a:latin typeface="Arial"/>
              </a:rPr>
              <a:t>83K 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A0AEC0"/>
                </a:solidFill>
                <a:latin typeface="Arial"/>
              </a:rPr>
              <a:t>הכנסה למשתתף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71600"/>
            <a:ext cx="2560320" cy="16459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5603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4000" b="1">
                <a:solidFill>
                  <a:srgbClr val="F96167"/>
                </a:solidFill>
                <a:latin typeface="Arial"/>
              </a:rPr>
              <a:t>11K 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A0AEC0"/>
                </a:solidFill>
                <a:latin typeface="Arial"/>
              </a:rPr>
              <a:t>עלות למשתתף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560320" cy="16459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4000" b="1">
                <a:solidFill>
                  <a:srgbClr val="10B981"/>
                </a:solidFill>
                <a:latin typeface="Arial"/>
              </a:rPr>
              <a:t>87%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A0AEC0"/>
                </a:solidFill>
                <a:latin typeface="Arial"/>
              </a:rPr>
              <a:t>מרווח גולמי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371600"/>
            <a:ext cx="2560320" cy="16459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1371600"/>
            <a:ext cx="256032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4000" b="1">
                <a:solidFill>
                  <a:srgbClr val="F9C74F"/>
                </a:solidFill>
                <a:latin typeface="Arial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A0AEC0"/>
                </a:solidFill>
                <a:latin typeface="Arial"/>
              </a:rPr>
              <a:t>Break-Even (חיילים)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000" b="1">
                <a:solidFill>
                  <a:srgbClr val="00A896"/>
                </a:solidFill>
                <a:latin typeface="Arial"/>
              </a:rPr>
              <a:t>מקורות הכנסה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5029200" cy="5029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931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9C74F"/>
                </a:solidFill>
                <a:latin typeface="Arial"/>
              </a:rPr>
              <a:t>35,000 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931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FFFFFF"/>
                </a:solidFill>
                <a:latin typeface="Arial"/>
              </a:rPr>
              <a:t>עמלת השמה לחברה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319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000" b="0">
                <a:solidFill>
                  <a:srgbClr val="A0AEC0"/>
                </a:solidFill>
                <a:latin typeface="Arial"/>
              </a:rPr>
              <a:t>חד-פעמי בתחילת שלב הייטק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526280"/>
            <a:ext cx="5029200" cy="5029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4526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9C74F"/>
                </a:solidFill>
                <a:latin typeface="Arial"/>
              </a:rPr>
              <a:t>18,000 ₪/שנה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5262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FFFFFF"/>
                </a:solidFill>
                <a:latin typeface="Arial"/>
              </a:rPr>
              <a:t>דמי ניהול SaaS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262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000" b="0">
                <a:solidFill>
                  <a:srgbClr val="A0AEC0"/>
                </a:solidFill>
                <a:latin typeface="Arial"/>
              </a:rPr>
              <a:t>ממשרד החינוך על הפלטפורמה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20640"/>
            <a:ext cx="5029200" cy="5029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5120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9C74F"/>
                </a:solidFill>
                <a:latin typeface="Arial"/>
              </a:rPr>
              <a:t>עד 45,000 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1206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FFFFFF"/>
                </a:solidFill>
                <a:latin typeface="Arial"/>
              </a:rPr>
              <a:t>מענק חתימה (פריפריה)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206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000" b="0">
                <a:solidFill>
                  <a:srgbClr val="A0AEC0"/>
                </a:solidFill>
                <a:latin typeface="Arial"/>
              </a:rPr>
              <a:t>תקציב ממשלתי קיים – עובר דרך מעוף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715000"/>
            <a:ext cx="5029200" cy="5029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5715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9C74F"/>
                </a:solidFill>
                <a:latin typeface="Arial"/>
              </a:rPr>
              <a:t>2,200 ₪/חודש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7150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FFFFFF"/>
                </a:solidFill>
                <a:latin typeface="Arial"/>
              </a:rPr>
              <a:t>סבסוד דיור (ביקוש)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715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000" b="0">
                <a:solidFill>
                  <a:srgbClr val="A0AEC0"/>
                </a:solidFill>
                <a:latin typeface="Arial"/>
              </a:rPr>
              <a:t>אזורי ת"א – מגפ"ן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000" b="1">
                <a:solidFill>
                  <a:srgbClr val="F9C74F"/>
                </a:solidFill>
                <a:latin typeface="Arial"/>
              </a:rPr>
              <a:t>מעוף vs גיוס רגיל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931920"/>
            <a:ext cx="530352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מדד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931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מעוף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גיוס רגיל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434840"/>
            <a:ext cx="5303520" cy="41148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4434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FFFFFF"/>
                </a:solidFill>
                <a:latin typeface="Arial"/>
              </a:rPr>
              <a:t>עלות גיוס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434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>
                <a:solidFill>
                  <a:srgbClr val="10B981"/>
                </a:solidFill>
                <a:latin typeface="Arial"/>
              </a:rPr>
              <a:t>35K 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434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F96167"/>
                </a:solidFill>
                <a:latin typeface="Arial"/>
              </a:rPr>
              <a:t>38-43K ₪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892040"/>
            <a:ext cx="5303520" cy="411480"/>
          </a:xfrm>
          <a:prstGeom prst="rect">
            <a:avLst/>
          </a:prstGeom>
          <a:solidFill>
            <a:srgbClr val="161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4892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FFFFFF"/>
                </a:solidFill>
                <a:latin typeface="Arial"/>
              </a:rPr>
              <a:t>אחריות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892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>
                <a:solidFill>
                  <a:srgbClr val="10B981"/>
                </a:solidFill>
                <a:latin typeface="Arial"/>
              </a:rPr>
              <a:t>24 חודש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892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F96167"/>
                </a:solidFill>
                <a:latin typeface="Arial"/>
              </a:rPr>
              <a:t>3 חודש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349240"/>
            <a:ext cx="5303520" cy="41148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5349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FFFFFF"/>
                </a:solidFill>
                <a:latin typeface="Arial"/>
              </a:rPr>
              <a:t>Soft Skills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5349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>
                <a:solidFill>
                  <a:srgbClr val="10B981"/>
                </a:solidFill>
                <a:latin typeface="Arial"/>
              </a:rPr>
              <a:t>מוכחים (2 שנות הוראה)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349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F96167"/>
                </a:solidFill>
                <a:latin typeface="Arial"/>
              </a:rPr>
              <a:t>לא ידוע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5806440"/>
            <a:ext cx="5303520" cy="411480"/>
          </a:xfrm>
          <a:prstGeom prst="rect">
            <a:avLst/>
          </a:prstGeom>
          <a:solidFill>
            <a:srgbClr val="161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5806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FFFFFF"/>
                </a:solidFill>
                <a:latin typeface="Arial"/>
              </a:rPr>
              <a:t>נטישה שנה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5806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>
                <a:solidFill>
                  <a:srgbClr val="10B981"/>
                </a:solidFill>
                <a:latin typeface="Arial"/>
              </a:rPr>
              <a:t>צפי: ~10%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5806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F96167"/>
                </a:solidFill>
                <a:latin typeface="Arial"/>
              </a:rPr>
              <a:t>~40%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600" b="1">
                <a:solidFill>
                  <a:srgbClr val="1E2761"/>
                </a:solidFill>
                <a:latin typeface="Arial"/>
              </a:rPr>
              <a:t>הפלטפורמה הטכנולוגית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6304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14216" y="1463040"/>
            <a:ext cx="54864" cy="1828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00A896"/>
                </a:solidFill>
                <a:latin typeface="Arial"/>
              </a:rPr>
              <a:t>מבחן ELI5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הסבר מושגים מורכבים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בשפה פשוטה – 3 סבבים: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כתיבה, וידאו, צ'אט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08976" y="1463040"/>
            <a:ext cx="54864" cy="18288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F9C74F"/>
                </a:solidFill>
                <a:latin typeface="Arial"/>
              </a:rPr>
              <a:t>Dual Scoring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אלגוריתם AI לדירוג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והתאמה אוטומטית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לבי"ס + חברה בו-זמנית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46304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3736" y="1463040"/>
            <a:ext cx="54864" cy="18288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F96167"/>
                </a:solidFill>
                <a:latin typeface="Arial"/>
              </a:rPr>
              <a:t>פורטל חיילים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דשבורד אישי, מסלול 2+2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התאמות, סימולטור שכר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מעקב משימות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65760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4216" y="365760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10B981"/>
                </a:solidFill>
                <a:latin typeface="Arial"/>
              </a:rPr>
              <a:t>פורטל משרד החינוך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מפת צרכים ארצית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247 מועמדים, AI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אישורי שיבוץ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65760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08976" y="3657600"/>
            <a:ext cx="54864" cy="1828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1E2761"/>
                </a:solidFill>
                <a:latin typeface="Arial"/>
              </a:rPr>
              <a:t>פורטל חברות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ניהול עובדים, מעקב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ROI, תכנון מעבר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מ-הוראה להייטק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80" y="365760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603736" y="3657600"/>
            <a:ext cx="54864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7C3AED"/>
                </a:solidFill>
                <a:latin typeface="Arial"/>
              </a:rPr>
              <a:t>Feedback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השוואת חיזוי vs ביצועים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עדכון משקלות אוטומטי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שיפור מתמיד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669280"/>
            <a:ext cx="1097280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64748B"/>
                </a:solidFill>
                <a:latin typeface="Arial"/>
              </a:rPr>
              <a:t>כל הפורטלים פועלים – גרסת Demo מלאה עם דשבורדים, גרפים, וסימולציות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600" b="1">
                <a:solidFill>
                  <a:srgbClr val="FFFFFF"/>
                </a:solidFill>
                <a:latin typeface="Arial"/>
              </a:rPr>
              <a:t>תקציב ובקשת מימון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000" b="1">
                <a:solidFill>
                  <a:srgbClr val="00A896"/>
                </a:solidFill>
                <a:latin typeface="Arial"/>
              </a:rPr>
              <a:t>פירוט תקציב – 12 חודשים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737360"/>
            <a:ext cx="5303520" cy="45720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1874520"/>
            <a:ext cx="416966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FFFFFF"/>
                </a:solidFill>
                <a:latin typeface="Arial"/>
              </a:rPr>
              <a:t>פיתוח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737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F9C74F"/>
                </a:solidFill>
                <a:latin typeface="Arial"/>
              </a:rPr>
              <a:t>90,000 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64748B"/>
                </a:solidFill>
                <a:latin typeface="Arial"/>
              </a:rPr>
              <a:t>38%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solidFill>
            <a:srgbClr val="161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423160"/>
            <a:ext cx="164592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FFFFFF"/>
                </a:solidFill>
                <a:latin typeface="Arial"/>
              </a:rPr>
              <a:t>תשתית ענן ו-AI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F9C74F"/>
                </a:solidFill>
                <a:latin typeface="Arial"/>
              </a:rPr>
              <a:t>35,000 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64748B"/>
                </a:solidFill>
                <a:latin typeface="Arial"/>
              </a:rPr>
              <a:t>15%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834640"/>
            <a:ext cx="5303520" cy="45720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971800"/>
            <a:ext cx="12070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FFFFFF"/>
                </a:solidFill>
                <a:latin typeface="Arial"/>
              </a:rPr>
              <a:t>עלויות משפט + רגולציה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834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F9C74F"/>
                </a:solidFill>
                <a:latin typeface="Arial"/>
              </a:rPr>
              <a:t>25,000 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64748B"/>
                </a:solidFill>
                <a:latin typeface="Arial"/>
              </a:rPr>
              <a:t>11%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383279"/>
            <a:ext cx="5303520" cy="457200"/>
          </a:xfrm>
          <a:prstGeom prst="rect">
            <a:avLst/>
          </a:prstGeom>
          <a:solidFill>
            <a:srgbClr val="161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520439"/>
            <a:ext cx="142646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383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FFFFFF"/>
                </a:solidFill>
                <a:latin typeface="Arial"/>
              </a:rPr>
              <a:t>שיווק ואקוויזיציה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38327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F9C74F"/>
                </a:solidFill>
                <a:latin typeface="Arial"/>
              </a:rPr>
              <a:t>30,000 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338327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64748B"/>
                </a:solidFill>
                <a:latin typeface="Arial"/>
              </a:rPr>
              <a:t>13%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931920"/>
            <a:ext cx="5303520" cy="45720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4069080"/>
            <a:ext cx="12070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FFFFFF"/>
                </a:solidFill>
                <a:latin typeface="Arial"/>
              </a:rPr>
              <a:t>פיילוט שטח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F9C74F"/>
                </a:solidFill>
                <a:latin typeface="Arial"/>
              </a:rPr>
              <a:t>25,000 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3931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64748B"/>
                </a:solidFill>
                <a:latin typeface="Arial"/>
              </a:rPr>
              <a:t>11%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480560"/>
            <a:ext cx="5303520" cy="457200"/>
          </a:xfrm>
          <a:prstGeom prst="rect">
            <a:avLst/>
          </a:prstGeom>
          <a:solidFill>
            <a:srgbClr val="161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4617720"/>
            <a:ext cx="142646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FFFFFF"/>
                </a:solidFill>
                <a:latin typeface="Arial"/>
              </a:rPr>
              <a:t>הוצ' כלליות + רזרבה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480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F9C74F"/>
                </a:solidFill>
                <a:latin typeface="Arial"/>
              </a:rPr>
              <a:t>30,000 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44805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>
                <a:solidFill>
                  <a:srgbClr val="64748B"/>
                </a:solidFill>
                <a:latin typeface="Arial"/>
              </a:rPr>
              <a:t>13%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029199"/>
            <a:ext cx="530352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50291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FFFFF"/>
                </a:solidFill>
                <a:latin typeface="Arial"/>
              </a:rPr>
              <a:t>סה"כ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02919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>
                <a:solidFill>
                  <a:srgbClr val="FFFFFF"/>
                </a:solidFill>
                <a:latin typeface="Arial"/>
              </a:rPr>
              <a:t>235,000 ₪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1188720"/>
            <a:ext cx="5486400" cy="484632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88736" y="1188720"/>
            <a:ext cx="54864" cy="484632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>
                <a:solidFill>
                  <a:srgbClr val="F9C74F"/>
                </a:solidFill>
                <a:latin typeface="Arial"/>
              </a:rPr>
              <a:t>הבקשה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21031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5600" b="1">
                <a:solidFill>
                  <a:srgbClr val="F9C74F"/>
                </a:solidFill>
                <a:latin typeface="Arial"/>
              </a:rPr>
              <a:t>200,000 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0">
                <a:solidFill>
                  <a:srgbClr val="FFFFFF"/>
                </a:solidFill>
                <a:latin typeface="Arial"/>
              </a:rPr>
              <a:t>מענק רשות החדשנות – מסלול תנופה (85%)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8404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56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 a:rtl="1">
              <a:spcAft>
                <a:spcPts val="560"/>
              </a:spcAft>
            </a:pPr>
            <a:r>
              <a:rPr sz="1600" b="0">
                <a:solidFill>
                  <a:srgbClr val="00A896"/>
                </a:solidFill>
                <a:latin typeface="Arial"/>
              </a:rPr>
              <a:t>השקעה עצמית: 35,000 ₪ (15%)</a:t>
            </a:r>
          </a:p>
          <a:p>
            <a:pPr algn="ctr" a:rtl="1">
              <a:spcAft>
                <a:spcPts val="56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 a:rtl="1">
              <a:spcAft>
                <a:spcPts val="56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יעד: MVP עובד + פיילוט 30 חיילים</a:t>
            </a:r>
          </a:p>
          <a:p>
            <a:pPr algn="ctr" a:rtl="1">
              <a:spcAft>
                <a:spcPts val="56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לו"ז: 12 חודשים</a:t>
            </a:r>
          </a:p>
          <a:p>
            <a:pPr algn="ctr" a:rtl="1">
              <a:spcAft>
                <a:spcPts val="560"/>
              </a:spcAft>
            </a:pPr>
            <a:r>
              <a:rPr sz="1600" b="0">
                <a:solidFill>
                  <a:srgbClr val="10B981"/>
                </a:solidFill>
                <a:latin typeface="Arial"/>
              </a:rPr>
              <a:t>Break-Even: חודש 8-10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600" b="1">
                <a:solidFill>
                  <a:srgbClr val="1E2761"/>
                </a:solidFill>
                <a:latin typeface="Arial"/>
              </a:rPr>
              <a:t>תוכנית עבודה – 12 חודשים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256032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1645920"/>
            <a:ext cx="1097280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בנייה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1E293B"/>
                </a:solidFill>
                <a:latin typeface="Arial"/>
              </a:rPr>
              <a:t>Q1: חודשים 1-3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פיתוח MVP – Scoring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חתימת LOI עם 2 חברות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גיוס 10 מועמדים ראשונים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הסכם עם 3 בתי ספר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371600"/>
            <a:ext cx="2560320" cy="7315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645920"/>
            <a:ext cx="1097280" cy="36576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פיילוט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1E293B"/>
                </a:solidFill>
                <a:latin typeface="Arial"/>
              </a:rPr>
              <a:t>Q2: חודשים 4-6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834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השמת 15 מועמדים בבי"ס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337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הפעלת Dual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840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איסוף משוב ראשוני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343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שיפור אלגוריתם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37160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86600" y="1645920"/>
            <a:ext cx="109728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צמיחה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1E293B"/>
                </a:solidFill>
                <a:latin typeface="Arial"/>
              </a:rPr>
              <a:t>Q3: חודשים 7-9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834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הרחבה ל-30 משתתפים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337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Break-Even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40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חתימת 5 חברות נוספות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43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פיתוח Feedback 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1371600"/>
            <a:ext cx="256032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6960" y="1645920"/>
            <a:ext cx="1097280" cy="3657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סקייל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1E293B"/>
                </a:solidFill>
                <a:latin typeface="Arial"/>
              </a:rPr>
              <a:t>Q4: חודשים 10-12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2834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50+ משתתפים פעילים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3337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סיבוב גיוס Seed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840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הרחבה ארצית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4343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>
                <a:solidFill>
                  <a:srgbClr val="64748B"/>
                </a:solidFill>
                <a:latin typeface="Arial"/>
              </a:rPr>
              <a:t>◂ שיתוף פעולה עם צה"ל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760720"/>
            <a:ext cx="1097280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" y="5760720"/>
            <a:ext cx="2743200" cy="1371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37560" y="5760720"/>
            <a:ext cx="2743200" cy="13716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80760" y="5760720"/>
            <a:ext cx="274320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23960" y="5760720"/>
            <a:ext cx="2743200" cy="1371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600" b="1">
                <a:solidFill>
                  <a:srgbClr val="FFFFFF"/>
                </a:solidFill>
                <a:latin typeface="Arial"/>
              </a:rPr>
              <a:t>הצוות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4572000" cy="365760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4572000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0" y="2011680"/>
            <a:ext cx="914400" cy="914400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200" b="0">
                <a:solidFill>
                  <a:srgbClr val="FFFFFF"/>
                </a:solidFill>
                <a:latin typeface="Arial"/>
              </a:rPr>
              <a:t>👨‍💼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00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>
                <a:solidFill>
                  <a:srgbClr val="F9C74F"/>
                </a:solidFill>
                <a:latin typeface="Arial"/>
              </a:rPr>
              <a:t>מייסד ומנכ"ל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8404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A0AEC0"/>
                </a:solidFill>
                <a:latin typeface="Arial"/>
              </a:rPr>
              <a:t>רקע מבצעי-טכנולוגי בצה"ל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206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A0AEC0"/>
                </a:solidFill>
                <a:latin typeface="Arial"/>
              </a:rPr>
              <a:t>מנהל רשת + חמ"ליסט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572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A0AEC0"/>
                </a:solidFill>
                <a:latin typeface="Arial"/>
              </a:rPr>
              <a:t>חזון ואסטרטגיה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645920"/>
            <a:ext cx="4572000" cy="3657600"/>
          </a:xfrm>
          <a:prstGeom prst="rect">
            <a:avLst/>
          </a:prstGeom>
          <a:solidFill>
            <a:srgbClr val="1B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1645920"/>
            <a:ext cx="457200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0" y="2011680"/>
            <a:ext cx="914400" cy="914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200" b="0">
                <a:solidFill>
                  <a:srgbClr val="FFFFFF"/>
                </a:solidFill>
                <a:latin typeface="Arial"/>
              </a:rPr>
              <a:t>👨‍💻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200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>
                <a:solidFill>
                  <a:srgbClr val="00A896"/>
                </a:solidFill>
                <a:latin typeface="Arial"/>
              </a:rPr>
              <a:t>CTO &amp; שותף מייסד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8404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A0AEC0"/>
                </a:solidFill>
                <a:latin typeface="Arial"/>
              </a:rPr>
              <a:t>יזם סדרתי + מתכנת Full-Stack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206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A0AEC0"/>
                </a:solidFill>
                <a:latin typeface="Arial"/>
              </a:rPr>
              <a:t>ניסיון בבניית סטארטאפ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572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A0AEC0"/>
                </a:solidFill>
                <a:latin typeface="Arial"/>
              </a:rPr>
              <a:t>אחראי על פיתוח ה-MVP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6000" b="1">
                <a:solidFill>
                  <a:srgbClr val="FFFFFF"/>
                </a:solidFill>
                <a:latin typeface="Arial"/>
              </a:rPr>
              <a:t>מעוף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0">
                <a:solidFill>
                  <a:srgbClr val="00A896"/>
                </a:solidFill>
                <a:latin typeface="Arial"/>
              </a:rPr>
              <a:t>הגשר בין צה"ל, החינוך, וההייטק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560"/>
              </a:spcAft>
            </a:pPr>
            <a:r>
              <a:rPr sz="2000" b="1">
                <a:solidFill>
                  <a:srgbClr val="F9C74F"/>
                </a:solidFill>
                <a:latin typeface="Arial"/>
              </a:rPr>
              <a:t>3,500 משרות STEM פנויות  ×  15,000 חיילים עם רקע טכנולוגי</a:t>
            </a:r>
          </a:p>
          <a:p>
            <a:pPr algn="ctr" a:rtl="1">
              <a:spcAft>
                <a:spcPts val="56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 a:rtl="1">
              <a:spcAft>
                <a:spcPts val="56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AI שמחבר בין הצרכים, מדרג, משבץ ומשפר – אוטומטית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029200"/>
            <a:ext cx="2560320" cy="6400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5138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Arial"/>
              </a:rPr>
              <a:t>noam@maof.tech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5029200"/>
            <a:ext cx="2560320" cy="640080"/>
          </a:xfrm>
          <a:prstGeom prst="round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5138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141B41"/>
                </a:solidFill>
                <a:latin typeface="Arial"/>
              </a:rPr>
              <a:t>200K ₪ מענק תנופה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5029200"/>
            <a:ext cx="256032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5138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Arial"/>
              </a:rPr>
              <a:t>פיילוט 30 חיילים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64748B"/>
                </a:solidFill>
                <a:latin typeface="Arial"/>
              </a:rPr>
              <a:t>Confidential | מעוף – Tech-Lead Israel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